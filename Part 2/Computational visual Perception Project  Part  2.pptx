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2"/>
  </p:notesMasterIdLst>
  <p:sldIdLst>
    <p:sldId id="256" r:id="rId2"/>
    <p:sldId id="258" r:id="rId3"/>
    <p:sldId id="296" r:id="rId4"/>
    <p:sldId id="259"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80" r:id="rId19"/>
    <p:sldId id="281" r:id="rId20"/>
    <p:sldId id="28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92092-B292-4ABF-8180-9E7E08A9B66D}" type="datetimeFigureOut">
              <a:rPr lang="en-IN" smtClean="0"/>
              <a:t>02-01-2026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DDA6EC-D646-4ACE-A626-827979840895}" type="slidenum">
              <a:rPr lang="en-IN" smtClean="0"/>
              <a:t>‹#›</a:t>
            </a:fld>
            <a:endParaRPr lang="en-IN"/>
          </a:p>
        </p:txBody>
      </p:sp>
    </p:spTree>
    <p:extLst>
      <p:ext uri="{BB962C8B-B14F-4D97-AF65-F5344CB8AC3E}">
        <p14:creationId xmlns:p14="http://schemas.microsoft.com/office/powerpoint/2010/main" val="2747208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DDA6EC-D646-4ACE-A626-827979840895}" type="slidenum">
              <a:rPr lang="en-IN" smtClean="0"/>
              <a:t>5</a:t>
            </a:fld>
            <a:endParaRPr lang="en-IN"/>
          </a:p>
        </p:txBody>
      </p:sp>
    </p:spTree>
    <p:extLst>
      <p:ext uri="{BB962C8B-B14F-4D97-AF65-F5344CB8AC3E}">
        <p14:creationId xmlns:p14="http://schemas.microsoft.com/office/powerpoint/2010/main" val="39976574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AECC5EF6-B935-408A-9C0E-A39027CC0C22}"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6725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232956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766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89CA-510E-4871-971A-31C6847F0BBD}"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546620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89CA-510E-4871-971A-31C6847F0BBD}" type="datetimeFigureOut">
              <a:rPr lang="en-IN" smtClean="0"/>
              <a:t>02-01-2026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CC5EF6-B935-408A-9C0E-A39027CC0C22}"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1477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89CA-510E-4871-971A-31C6847F0BBD}" type="datetimeFigureOut">
              <a:rPr lang="en-IN" smtClean="0"/>
              <a:t>02-01-2026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CC5EF6-B935-408A-9C0E-A39027CC0C2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1118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89CA-510E-4871-971A-31C6847F0BBD}" type="datetimeFigureOut">
              <a:rPr lang="en-IN" smtClean="0"/>
              <a:t>02-01-2026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63669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3489CA-510E-4871-971A-31C6847F0BBD}"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C5EF6-B935-408A-9C0E-A39027CC0C22}"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7380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3489CA-510E-4871-971A-31C6847F0BBD}"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3544821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3489CA-510E-4871-971A-31C6847F0BBD}"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1207807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54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7950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spTree>
    <p:extLst>
      <p:ext uri="{BB962C8B-B14F-4D97-AF65-F5344CB8AC3E}">
        <p14:creationId xmlns:p14="http://schemas.microsoft.com/office/powerpoint/2010/main" val="3434098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9478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6857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9979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89CA-510E-4871-971A-31C6847F0BBD}"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C5EF6-B935-408A-9C0E-A39027CC0C22}"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3799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33489CA-510E-4871-971A-31C6847F0BBD}" type="datetimeFigureOut">
              <a:rPr lang="en-IN" smtClean="0"/>
              <a:t>02-01-2026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ECC5EF6-B935-408A-9C0E-A39027CC0C22}" type="slidenum">
              <a:rPr lang="en-IN" smtClean="0"/>
              <a:t>‹#›</a:t>
            </a:fld>
            <a:endParaRPr lang="en-IN"/>
          </a:p>
        </p:txBody>
      </p:sp>
    </p:spTree>
    <p:extLst>
      <p:ext uri="{BB962C8B-B14F-4D97-AF65-F5344CB8AC3E}">
        <p14:creationId xmlns:p14="http://schemas.microsoft.com/office/powerpoint/2010/main" val="368738411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ichaelbach.de/ot/mot-snakesLum/" TargetMode="External"/><Relationship Id="rId2" Type="http://schemas.openxmlformats.org/officeDocument/2006/relationships/hyperlink" Target="https://www.ecva.net/papers/eccv_2020/papers_ECCV/papers/123470392.pdf" TargetMode="External"/><Relationship Id="rId1" Type="http://schemas.openxmlformats.org/officeDocument/2006/relationships/slideLayout" Target="../slideLayouts/slideLayout2.xml"/><Relationship Id="rId5" Type="http://schemas.openxmlformats.org/officeDocument/2006/relationships/hyperlink" Target="https://www.psy.ritsumei.ac.jp/akitaoka/saishin57e.html" TargetMode="External"/><Relationship Id="rId4" Type="http://schemas.openxmlformats.org/officeDocument/2006/relationships/hyperlink" Target="https://journals.sagepub.com/doi/10.1177/204166952110187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5E48F-A00C-ED48-DE0F-6962A5154EC7}"/>
              </a:ext>
            </a:extLst>
          </p:cNvPr>
          <p:cNvSpPr>
            <a:spLocks noGrp="1"/>
          </p:cNvSpPr>
          <p:nvPr>
            <p:ph type="ctrTitle"/>
          </p:nvPr>
        </p:nvSpPr>
        <p:spPr>
          <a:xfrm>
            <a:off x="2180303" y="1725325"/>
            <a:ext cx="7831394" cy="1463040"/>
          </a:xfrm>
        </p:spPr>
        <p:txBody>
          <a:bodyPr>
            <a:normAutofit/>
          </a:bodyPr>
          <a:lstStyle/>
          <a:p>
            <a:r>
              <a:rPr lang="en-IN" sz="4400" dirty="0"/>
              <a:t>Computational Visual Perception</a:t>
            </a:r>
            <a:br>
              <a:rPr lang="en-IN" sz="4400" dirty="0"/>
            </a:br>
            <a:r>
              <a:rPr lang="en-IN" sz="4400" dirty="0"/>
              <a:t>Project Part – 2</a:t>
            </a:r>
          </a:p>
        </p:txBody>
      </p:sp>
      <p:sp>
        <p:nvSpPr>
          <p:cNvPr id="3" name="Subtitle 2">
            <a:extLst>
              <a:ext uri="{FF2B5EF4-FFF2-40B4-BE49-F238E27FC236}">
                <a16:creationId xmlns:a16="http://schemas.microsoft.com/office/drawing/2014/main" id="{F7B77C0B-10F9-ECC0-9869-CD3562C1E85C}"/>
              </a:ext>
            </a:extLst>
          </p:cNvPr>
          <p:cNvSpPr>
            <a:spLocks noGrp="1"/>
          </p:cNvSpPr>
          <p:nvPr>
            <p:ph type="subTitle" idx="1"/>
          </p:nvPr>
        </p:nvSpPr>
        <p:spPr>
          <a:xfrm>
            <a:off x="3401962" y="3669636"/>
            <a:ext cx="5388076" cy="1348895"/>
          </a:xfrm>
        </p:spPr>
        <p:txBody>
          <a:bodyPr>
            <a:noAutofit/>
          </a:bodyPr>
          <a:lstStyle/>
          <a:p>
            <a:br>
              <a:rPr lang="en-IN" sz="2400" dirty="0"/>
            </a:br>
            <a:r>
              <a:rPr lang="en-IN" sz="2400" dirty="0"/>
              <a:t>Winter – 25/26 </a:t>
            </a:r>
          </a:p>
          <a:p>
            <a:r>
              <a:rPr lang="en-IN" sz="2400" dirty="0"/>
              <a:t>Name : Siddhant Vishvendu Sharma</a:t>
            </a:r>
          </a:p>
        </p:txBody>
      </p:sp>
    </p:spTree>
    <p:extLst>
      <p:ext uri="{BB962C8B-B14F-4D97-AF65-F5344CB8AC3E}">
        <p14:creationId xmlns:p14="http://schemas.microsoft.com/office/powerpoint/2010/main" val="3024507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34AD-EA43-E553-25B1-D766D664294F}"/>
              </a:ext>
            </a:extLst>
          </p:cNvPr>
          <p:cNvSpPr>
            <a:spLocks noGrp="1"/>
          </p:cNvSpPr>
          <p:nvPr>
            <p:ph type="title"/>
          </p:nvPr>
        </p:nvSpPr>
        <p:spPr>
          <a:xfrm>
            <a:off x="1138565" y="795057"/>
            <a:ext cx="9605635" cy="1059305"/>
          </a:xfrm>
        </p:spPr>
        <p:txBody>
          <a:bodyPr/>
          <a:lstStyle/>
          <a:p>
            <a:r>
              <a:rPr lang="en-IN" dirty="0"/>
              <a:t>1. Optical Flow &amp; Motion Perception</a:t>
            </a:r>
          </a:p>
        </p:txBody>
      </p:sp>
      <p:sp>
        <p:nvSpPr>
          <p:cNvPr id="4" name="Content Placeholder 3">
            <a:extLst>
              <a:ext uri="{FF2B5EF4-FFF2-40B4-BE49-F238E27FC236}">
                <a16:creationId xmlns:a16="http://schemas.microsoft.com/office/drawing/2014/main" id="{5BF98A4A-EB57-BF32-308B-D4B5271DE85D}"/>
              </a:ext>
            </a:extLst>
          </p:cNvPr>
          <p:cNvSpPr>
            <a:spLocks noGrp="1"/>
          </p:cNvSpPr>
          <p:nvPr>
            <p:ph sz="half" idx="1"/>
          </p:nvPr>
        </p:nvSpPr>
        <p:spPr>
          <a:xfrm>
            <a:off x="1298448" y="2560320"/>
            <a:ext cx="9605634" cy="3310128"/>
          </a:xfrm>
        </p:spPr>
        <p:txBody>
          <a:bodyPr>
            <a:normAutofit fontScale="92500"/>
          </a:bodyPr>
          <a:lstStyle/>
          <a:p>
            <a:r>
              <a:rPr lang="en-IN" dirty="0"/>
              <a:t>We use RAFT (Recurrent All-Pairs Field Transforms) currently considered the gold standard for optical flow in the industry, we will attempt to investigate the following questions.</a:t>
            </a:r>
          </a:p>
          <a:p>
            <a:r>
              <a:rPr lang="en-IN" dirty="0"/>
              <a:t>Q1 :Does RAFT hallucinate motion in static illusions, mirroring human vision ?</a:t>
            </a:r>
          </a:p>
          <a:p>
            <a:r>
              <a:rPr lang="en-IN" dirty="0"/>
              <a:t>Q2 :In absence of texture on images does RAFT default to zero motion or exhibit random motion drifts ?</a:t>
            </a:r>
          </a:p>
          <a:p>
            <a:r>
              <a:rPr lang="en-IN" dirty="0"/>
              <a:t>Q3 :Is RAFT’s response to illusions rotationally invariant, or does the flow direction rotate with image? </a:t>
            </a:r>
          </a:p>
        </p:txBody>
      </p:sp>
    </p:spTree>
    <p:extLst>
      <p:ext uri="{BB962C8B-B14F-4D97-AF65-F5344CB8AC3E}">
        <p14:creationId xmlns:p14="http://schemas.microsoft.com/office/powerpoint/2010/main" val="184402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4312A-DA85-C07B-1093-7DCA8F163505}"/>
              </a:ext>
            </a:extLst>
          </p:cNvPr>
          <p:cNvSpPr>
            <a:spLocks noGrp="1"/>
          </p:cNvSpPr>
          <p:nvPr>
            <p:ph type="title"/>
          </p:nvPr>
        </p:nvSpPr>
        <p:spPr/>
        <p:txBody>
          <a:bodyPr>
            <a:normAutofit/>
          </a:bodyPr>
          <a:lstStyle/>
          <a:p>
            <a:r>
              <a:rPr lang="en-IN" dirty="0"/>
              <a:t>Verification of Local Implementation </a:t>
            </a:r>
          </a:p>
        </p:txBody>
      </p:sp>
      <p:pic>
        <p:nvPicPr>
          <p:cNvPr id="6" name="Content Placeholder 5">
            <a:extLst>
              <a:ext uri="{FF2B5EF4-FFF2-40B4-BE49-F238E27FC236}">
                <a16:creationId xmlns:a16="http://schemas.microsoft.com/office/drawing/2014/main" id="{5F4C0402-C785-8588-D869-A32A860C60E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83290" y="2285999"/>
            <a:ext cx="10625420" cy="3541806"/>
          </a:xfrm>
        </p:spPr>
      </p:pic>
    </p:spTree>
    <p:extLst>
      <p:ext uri="{BB962C8B-B14F-4D97-AF65-F5344CB8AC3E}">
        <p14:creationId xmlns:p14="http://schemas.microsoft.com/office/powerpoint/2010/main" val="420836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BE44-C0D7-2B0E-A5FF-58368E28C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6E135-052E-5AA9-2837-30AAAE29A932}"/>
              </a:ext>
            </a:extLst>
          </p:cNvPr>
          <p:cNvSpPr>
            <a:spLocks noGrp="1"/>
          </p:cNvSpPr>
          <p:nvPr>
            <p:ph type="title"/>
          </p:nvPr>
        </p:nvSpPr>
        <p:spPr>
          <a:xfrm>
            <a:off x="1378526" y="987552"/>
            <a:ext cx="9605635" cy="1059305"/>
          </a:xfrm>
        </p:spPr>
        <p:txBody>
          <a:bodyPr/>
          <a:lstStyle/>
          <a:p>
            <a:r>
              <a:rPr lang="en-IN" dirty="0"/>
              <a:t>Test Case 1.1 : Rotating Snake</a:t>
            </a:r>
          </a:p>
        </p:txBody>
      </p:sp>
      <p:pic>
        <p:nvPicPr>
          <p:cNvPr id="25" name="Content Placeholder 24">
            <a:extLst>
              <a:ext uri="{FF2B5EF4-FFF2-40B4-BE49-F238E27FC236}">
                <a16:creationId xmlns:a16="http://schemas.microsoft.com/office/drawing/2014/main" id="{0AEF2E1D-3319-58D6-8657-F7AF849609D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32975" y="1848464"/>
            <a:ext cx="8326049" cy="4358994"/>
          </a:xfrm>
        </p:spPr>
      </p:pic>
    </p:spTree>
    <p:extLst>
      <p:ext uri="{BB962C8B-B14F-4D97-AF65-F5344CB8AC3E}">
        <p14:creationId xmlns:p14="http://schemas.microsoft.com/office/powerpoint/2010/main" val="288070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320C-2D23-CC76-CD54-C302915E0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E759-A036-13BB-0AB7-3612ACF81FF4}"/>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pic>
        <p:nvPicPr>
          <p:cNvPr id="14" name="Content Placeholder 13">
            <a:extLst>
              <a:ext uri="{FF2B5EF4-FFF2-40B4-BE49-F238E27FC236}">
                <a16:creationId xmlns:a16="http://schemas.microsoft.com/office/drawing/2014/main" id="{4569FC28-8282-3B69-1B3D-A6FE11203E5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934968" y="1838633"/>
            <a:ext cx="8322063" cy="4395019"/>
          </a:xfrm>
        </p:spPr>
      </p:pic>
    </p:spTree>
    <p:extLst>
      <p:ext uri="{BB962C8B-B14F-4D97-AF65-F5344CB8AC3E}">
        <p14:creationId xmlns:p14="http://schemas.microsoft.com/office/powerpoint/2010/main" val="277287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9145E-3CF6-4798-063C-751A89A57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2C8CC-6405-246B-0428-81598E4C05B7}"/>
              </a:ext>
            </a:extLst>
          </p:cNvPr>
          <p:cNvSpPr>
            <a:spLocks noGrp="1"/>
          </p:cNvSpPr>
          <p:nvPr>
            <p:ph type="title"/>
          </p:nvPr>
        </p:nvSpPr>
        <p:spPr>
          <a:xfrm>
            <a:off x="1378526" y="987552"/>
            <a:ext cx="9605635" cy="1059305"/>
          </a:xfrm>
        </p:spPr>
        <p:txBody>
          <a:bodyPr>
            <a:normAutofit/>
          </a:bodyPr>
          <a:lstStyle/>
          <a:p>
            <a:r>
              <a:rPr lang="en-IN" dirty="0"/>
              <a:t>Test Case 1.3 : Drifting Emboss illusion</a:t>
            </a:r>
          </a:p>
        </p:txBody>
      </p:sp>
      <p:pic>
        <p:nvPicPr>
          <p:cNvPr id="11" name="Content Placeholder 10">
            <a:extLst>
              <a:ext uri="{FF2B5EF4-FFF2-40B4-BE49-F238E27FC236}">
                <a16:creationId xmlns:a16="http://schemas.microsoft.com/office/drawing/2014/main" id="{C84A7D86-9BDB-E093-CE86-CED04AE9D4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232281" y="2046857"/>
            <a:ext cx="7727438" cy="4130284"/>
          </a:xfrm>
        </p:spPr>
      </p:pic>
    </p:spTree>
    <p:extLst>
      <p:ext uri="{BB962C8B-B14F-4D97-AF65-F5344CB8AC3E}">
        <p14:creationId xmlns:p14="http://schemas.microsoft.com/office/powerpoint/2010/main" val="243920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638D-D25E-5604-3F03-3F5B9500D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9C3D5-9EB9-0FEF-2D8D-CE81A02735B6}"/>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5BE07757-E614-69A4-4DDE-8427AE1D43A5}"/>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8CA1B624-578F-E1A1-D2ED-274D1E09369C}"/>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F9CE23D3-FBD5-8C55-A006-151AB6A647D3}"/>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175653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5EFEF-E1BF-92C2-A9D8-BFB445EA2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41BEC-BEC1-5ED7-800E-E181BEA8A24D}"/>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3BE3A65C-F66D-5E2C-C170-DB0B0D3A99BB}"/>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3644CA31-29A2-C695-EAEF-0F7676C634FA}"/>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46D3ED61-F1BC-BBF6-177B-48F0FAF35590}"/>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2487109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7C97E-6BAF-A966-6F2A-DB350EF46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FD13F-C14A-1BDB-90FE-A81D9A3880F8}"/>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70E72866-A253-D43E-D735-AE3D123A6E65}"/>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91F9666F-77D6-754F-5C11-DC9FDE92F2B9}"/>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397CD70E-082D-58C7-B34E-32ED8F8694AE}"/>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521548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A3A9C-DA63-D095-9775-30B56A6D4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00D47-D7AA-3C73-82AC-554416F32834}"/>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91959CBD-BDF4-242A-E00B-C32DB090E1F1}"/>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757DBD9E-5DCF-4A59-438D-AF80BDFAEB2E}"/>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E5BFC4E5-767B-43DB-4FD8-D59FC1E368B2}"/>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210511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01662-9ABB-09F9-6A6E-A31898698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1C472-5892-FAE5-CF15-3E6B972C8F14}"/>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BB0B09E0-9A69-2936-A1D9-64D98898776A}"/>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3BF90061-DC9B-4446-9B7F-737F18E70B70}"/>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5A8EC2A7-C6B7-BD91-9F48-5A52475377ED}"/>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546798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7B5C-EB22-2F78-1D26-04FCE06B5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0547D-39BC-9C8B-C691-E4C72CF019C6}"/>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C0461F4D-F761-AC2B-6BF0-88494BEB664D}"/>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CC54C393-31AD-1250-8AC1-50D1C71425E5}"/>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F8B751DB-DD21-840C-8E8F-3C4B384FB855}"/>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654534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59BD0-99AF-C8F2-F80E-87D462A8B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787DC-88ED-7FC1-67DD-7D410269FF7D}"/>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0A2EF78F-E57E-BA41-1272-6163716617CC}"/>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08057DF9-24B8-DE06-DCAE-EC3B1FE6C661}"/>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0A384D83-B530-7CA8-DD76-CDFD3029A8B8}"/>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399711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8502-85B1-6131-965F-BBF4CE09A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B686D-2603-BEDA-BE46-E8E5AF1CE735}"/>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545F8EAA-C98F-8222-CB4E-F58BD0DBB099}"/>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CA5BE8FE-FD1A-1F29-2188-9FCA054027A2}"/>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CCD243E3-494D-76B3-38BF-30DBA86004CC}"/>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270131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EE1C7-8929-A866-7AB6-E960B4430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F484B-6337-D07E-4CE4-D6CF1AF7A1B5}"/>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A502BEC3-FB5E-2896-BCA6-B4C5D30A2E96}"/>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529E5594-3CC1-85A4-83A5-6C14044EE476}"/>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6F60C7CB-A1F5-CAF9-EA53-017A0ECE748C}"/>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187655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02F2C-3C9B-BC29-12A9-5CBAC7DE4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5284F-3BAF-0DB5-8536-E99AFBAD9C29}"/>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C88283FE-8D96-180E-CEE5-184BA77F697C}"/>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86214691-D689-B9E7-87B9-74E9971379CE}"/>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FA848E07-C3D3-67BD-62A8-BBE3B04EB542}"/>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209266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598F4-3B50-EBF0-C42E-339550491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0EDD4-DD98-5F04-B2A5-2B415902ADE2}"/>
              </a:ext>
            </a:extLst>
          </p:cNvPr>
          <p:cNvSpPr>
            <a:spLocks noGrp="1"/>
          </p:cNvSpPr>
          <p:nvPr>
            <p:ph type="title"/>
          </p:nvPr>
        </p:nvSpPr>
        <p:spPr>
          <a:xfrm>
            <a:off x="1378526" y="987552"/>
            <a:ext cx="9605635" cy="1059305"/>
          </a:xfrm>
        </p:spPr>
        <p:txBody>
          <a:bodyPr>
            <a:normAutofit fontScale="90000"/>
          </a:bodyPr>
          <a:lstStyle/>
          <a:p>
            <a:r>
              <a:rPr lang="en-IN" dirty="0"/>
              <a:t>Test Case 1.2 : Colour Swapped Rotating Snake</a:t>
            </a:r>
          </a:p>
        </p:txBody>
      </p:sp>
      <p:sp>
        <p:nvSpPr>
          <p:cNvPr id="6" name="TextBox 5">
            <a:extLst>
              <a:ext uri="{FF2B5EF4-FFF2-40B4-BE49-F238E27FC236}">
                <a16:creationId xmlns:a16="http://schemas.microsoft.com/office/drawing/2014/main" id="{EF2D1EE7-B95A-97EE-294A-FF0AB3DB242F}"/>
              </a:ext>
            </a:extLst>
          </p:cNvPr>
          <p:cNvSpPr txBox="1"/>
          <p:nvPr/>
        </p:nvSpPr>
        <p:spPr>
          <a:xfrm>
            <a:off x="1422604" y="5494148"/>
            <a:ext cx="9346792" cy="646331"/>
          </a:xfrm>
          <a:prstGeom prst="rect">
            <a:avLst/>
          </a:prstGeom>
          <a:noFill/>
        </p:spPr>
        <p:txBody>
          <a:bodyPr wrap="square" rtlCol="0">
            <a:spAutoFit/>
          </a:bodyPr>
          <a:lstStyle/>
          <a:p>
            <a:r>
              <a:rPr lang="en-IN" dirty="0"/>
              <a:t>Prompt : “</a:t>
            </a:r>
            <a:r>
              <a:rPr lang="en-US" dirty="0"/>
              <a:t>The hand lets go of the object, the object falls in water. Static camera, no pan, no zoom, no dolly.”</a:t>
            </a:r>
            <a:endParaRPr lang="en-IN" dirty="0"/>
          </a:p>
        </p:txBody>
      </p:sp>
      <p:sp>
        <p:nvSpPr>
          <p:cNvPr id="4" name="Content Placeholder 3">
            <a:extLst>
              <a:ext uri="{FF2B5EF4-FFF2-40B4-BE49-F238E27FC236}">
                <a16:creationId xmlns:a16="http://schemas.microsoft.com/office/drawing/2014/main" id="{0EDF1650-29F4-462B-D3CC-284FCB027D02}"/>
              </a:ext>
            </a:extLst>
          </p:cNvPr>
          <p:cNvSpPr>
            <a:spLocks noGrp="1"/>
          </p:cNvSpPr>
          <p:nvPr>
            <p:ph sz="half" idx="1"/>
          </p:nvPr>
        </p:nvSpPr>
        <p:spPr>
          <a:xfrm>
            <a:off x="1298448" y="2560320"/>
            <a:ext cx="4276442" cy="2601615"/>
          </a:xfrm>
        </p:spPr>
        <p:txBody>
          <a:bodyPr/>
          <a:lstStyle/>
          <a:p>
            <a:endParaRPr lang="en-IN" dirty="0"/>
          </a:p>
        </p:txBody>
      </p:sp>
      <p:sp>
        <p:nvSpPr>
          <p:cNvPr id="7" name="Content Placeholder 6">
            <a:extLst>
              <a:ext uri="{FF2B5EF4-FFF2-40B4-BE49-F238E27FC236}">
                <a16:creationId xmlns:a16="http://schemas.microsoft.com/office/drawing/2014/main" id="{7184DB2F-C449-4410-BA48-BC385C0E736E}"/>
              </a:ext>
            </a:extLst>
          </p:cNvPr>
          <p:cNvSpPr>
            <a:spLocks noGrp="1"/>
          </p:cNvSpPr>
          <p:nvPr>
            <p:ph sz="half" idx="2"/>
          </p:nvPr>
        </p:nvSpPr>
        <p:spPr>
          <a:xfrm>
            <a:off x="6617112" y="2560320"/>
            <a:ext cx="4282536" cy="2601615"/>
          </a:xfrm>
        </p:spPr>
        <p:txBody>
          <a:bodyPr/>
          <a:lstStyle/>
          <a:p>
            <a:endParaRPr lang="en-IN" dirty="0"/>
          </a:p>
        </p:txBody>
      </p:sp>
    </p:spTree>
    <p:extLst>
      <p:ext uri="{BB962C8B-B14F-4D97-AF65-F5344CB8AC3E}">
        <p14:creationId xmlns:p14="http://schemas.microsoft.com/office/powerpoint/2010/main" val="3468989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C9620-2E9D-7F34-792C-6798527DA0C5}"/>
              </a:ext>
            </a:extLst>
          </p:cNvPr>
          <p:cNvSpPr>
            <a:spLocks noGrp="1"/>
          </p:cNvSpPr>
          <p:nvPr>
            <p:ph type="title"/>
          </p:nvPr>
        </p:nvSpPr>
        <p:spPr>
          <a:xfrm>
            <a:off x="1294362" y="-195795"/>
            <a:ext cx="9603275" cy="1049235"/>
          </a:xfrm>
        </p:spPr>
        <p:txBody>
          <a:bodyPr/>
          <a:lstStyle/>
          <a:p>
            <a:r>
              <a:rPr lang="en-IN" dirty="0"/>
              <a:t>Summary / Inferences </a:t>
            </a:r>
          </a:p>
        </p:txBody>
      </p:sp>
      <p:sp>
        <p:nvSpPr>
          <p:cNvPr id="3" name="Content Placeholder 2">
            <a:extLst>
              <a:ext uri="{FF2B5EF4-FFF2-40B4-BE49-F238E27FC236}">
                <a16:creationId xmlns:a16="http://schemas.microsoft.com/office/drawing/2014/main" id="{AB36E848-092F-5B42-99D2-1AFB50A05C47}"/>
              </a:ext>
            </a:extLst>
          </p:cNvPr>
          <p:cNvSpPr>
            <a:spLocks noGrp="1"/>
          </p:cNvSpPr>
          <p:nvPr>
            <p:ph idx="1"/>
          </p:nvPr>
        </p:nvSpPr>
        <p:spPr>
          <a:xfrm>
            <a:off x="223519" y="629920"/>
            <a:ext cx="11744959" cy="6146800"/>
          </a:xfrm>
        </p:spPr>
        <p:txBody>
          <a:bodyPr>
            <a:normAutofit fontScale="92500" lnSpcReduction="10000"/>
          </a:bodyPr>
          <a:lstStyle/>
          <a:p>
            <a:r>
              <a:rPr lang="en-IN" dirty="0"/>
              <a:t>The performance of  Veo 3.1 was excellent and mostly successful when compared to Veo 2.</a:t>
            </a:r>
          </a:p>
          <a:p>
            <a:r>
              <a:rPr lang="en-IN" dirty="0"/>
              <a:t>There was a significant performance drop when prompt rewriting was turned off for Veo 3.1 and cases where it was successful previously had now failed.</a:t>
            </a:r>
          </a:p>
          <a:p>
            <a:r>
              <a:rPr lang="en-IN" dirty="0"/>
              <a:t>When testing maze solving capabilities, to test spatial reasoning, the reproduction on Veo 3.1 was successful but was only partially successful when given a variant of similar test, the failure was even more significant with prompt rewriting turned off and it failed completely on the Veo 2 model both on the variants and reproductions.</a:t>
            </a:r>
          </a:p>
          <a:p>
            <a:r>
              <a:rPr lang="en-IN" dirty="0"/>
              <a:t>Physics test case for cap falling had similar results,  while the reproductions were mostly successful with slight difference in  interactions, the variants performance changed  with prompt  rewriting turned off and it  hallucinated  another cap on Veo 2 model.</a:t>
            </a:r>
          </a:p>
          <a:p>
            <a:r>
              <a:rPr lang="en-IN" dirty="0"/>
              <a:t>Transfiguration was mostly unsuccessful while the reproductions were still acceptable it failed on Veo 2 and the variant cases were not consistent, interestingly the best performance was observed with prompt rewriting turned off in the variant case.</a:t>
            </a:r>
          </a:p>
          <a:p>
            <a:r>
              <a:rPr lang="en-IN" dirty="0"/>
              <a:t>The object counting case was a bag of mixed results and all of them were  unsuccessful, initially the coffee pods were moving as expected but one merged in the Veo 3.1 case.  In the Veo 2 case  the  model  hallucinated  a  train of pods, the last case the model  merged all  of the  pods  together and formed a bigger pod but the motion in this  case  was as expected  over  others.</a:t>
            </a:r>
          </a:p>
        </p:txBody>
      </p:sp>
    </p:spTree>
    <p:extLst>
      <p:ext uri="{BB962C8B-B14F-4D97-AF65-F5344CB8AC3E}">
        <p14:creationId xmlns:p14="http://schemas.microsoft.com/office/powerpoint/2010/main" val="2621225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40AF5-638F-AE42-708D-C48AF8CE88E4}"/>
              </a:ext>
            </a:extLst>
          </p:cNvPr>
          <p:cNvSpPr>
            <a:spLocks noGrp="1"/>
          </p:cNvSpPr>
          <p:nvPr>
            <p:ph type="title"/>
          </p:nvPr>
        </p:nvSpPr>
        <p:spPr>
          <a:xfrm>
            <a:off x="1451579" y="342420"/>
            <a:ext cx="9291215" cy="1049235"/>
          </a:xfrm>
        </p:spPr>
        <p:txBody>
          <a:bodyPr/>
          <a:lstStyle/>
          <a:p>
            <a:r>
              <a:rPr lang="en-IN" dirty="0"/>
              <a:t>Failure Cases</a:t>
            </a:r>
          </a:p>
        </p:txBody>
      </p:sp>
      <p:sp>
        <p:nvSpPr>
          <p:cNvPr id="3" name="Content Placeholder 2">
            <a:extLst>
              <a:ext uri="{FF2B5EF4-FFF2-40B4-BE49-F238E27FC236}">
                <a16:creationId xmlns:a16="http://schemas.microsoft.com/office/drawing/2014/main" id="{39DF8D28-AE47-18E6-4DEE-CE1A4AC4B7CA}"/>
              </a:ext>
            </a:extLst>
          </p:cNvPr>
          <p:cNvSpPr>
            <a:spLocks noGrp="1"/>
          </p:cNvSpPr>
          <p:nvPr>
            <p:ph idx="1"/>
          </p:nvPr>
        </p:nvSpPr>
        <p:spPr>
          <a:xfrm>
            <a:off x="1451579" y="1391656"/>
            <a:ext cx="9291215" cy="4074690"/>
          </a:xfrm>
        </p:spPr>
        <p:txBody>
          <a:bodyPr>
            <a:normAutofit fontScale="92500"/>
          </a:bodyPr>
          <a:lstStyle/>
          <a:p>
            <a:r>
              <a:rPr lang="en-US" dirty="0"/>
              <a:t>Despite their generalist capabilities, video models exhibit distinct failure modes when pushed beyond simple generation. Physics violations are common, models often prioritize visual smoothness over physical plausibility, causing objects to clip through walls as seen in the maze task, float unnaturally. </a:t>
            </a:r>
          </a:p>
          <a:p>
            <a:r>
              <a:rPr lang="en-US" dirty="0"/>
              <a:t>Hallucinations also occur, particularly in tasks requiring object permanence where objects may spontaneously merge, disappear, or multiply during occlusion. </a:t>
            </a:r>
          </a:p>
          <a:p>
            <a:r>
              <a:rPr lang="en-US" dirty="0"/>
              <a:t>Furthermore, the models show a heavy dependence on prompt rewriting; when the internal LLM rewriter is disabled, performance on reasoning tasks (like pathfinding) degrades significantly, revealing that the "intelligence" often lies in the text encoder rather than the video generation process itself</a:t>
            </a:r>
            <a:endParaRPr lang="en-IN" dirty="0"/>
          </a:p>
        </p:txBody>
      </p:sp>
    </p:spTree>
    <p:extLst>
      <p:ext uri="{BB962C8B-B14F-4D97-AF65-F5344CB8AC3E}">
        <p14:creationId xmlns:p14="http://schemas.microsoft.com/office/powerpoint/2010/main" val="282274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EACCB-0CE3-D140-60EC-278AF9094FF2}"/>
              </a:ext>
            </a:extLst>
          </p:cNvPr>
          <p:cNvSpPr>
            <a:spLocks noGrp="1"/>
          </p:cNvSpPr>
          <p:nvPr>
            <p:ph type="title"/>
          </p:nvPr>
        </p:nvSpPr>
        <p:spPr/>
        <p:txBody>
          <a:bodyPr>
            <a:normAutofit/>
          </a:bodyPr>
          <a:lstStyle/>
          <a:p>
            <a:r>
              <a:rPr lang="en-IN" dirty="0"/>
              <a:t>References and Courtesy</a:t>
            </a:r>
          </a:p>
        </p:txBody>
      </p:sp>
      <p:sp>
        <p:nvSpPr>
          <p:cNvPr id="3" name="Content Placeholder 2">
            <a:extLst>
              <a:ext uri="{FF2B5EF4-FFF2-40B4-BE49-F238E27FC236}">
                <a16:creationId xmlns:a16="http://schemas.microsoft.com/office/drawing/2014/main" id="{B04B3300-7083-B6EB-070A-30A604CE916A}"/>
              </a:ext>
            </a:extLst>
          </p:cNvPr>
          <p:cNvSpPr>
            <a:spLocks noGrp="1"/>
          </p:cNvSpPr>
          <p:nvPr>
            <p:ph idx="1"/>
          </p:nvPr>
        </p:nvSpPr>
        <p:spPr/>
        <p:txBody>
          <a:bodyPr/>
          <a:lstStyle/>
          <a:p>
            <a:r>
              <a:rPr lang="en-IN" dirty="0">
                <a:hlinkClick r:id="rId2"/>
              </a:rPr>
              <a:t>https://www.ecva.net/papers/eccv_2020/papers_ECCV/papers/123470392.pdf</a:t>
            </a:r>
            <a:endParaRPr lang="en-IN" dirty="0"/>
          </a:p>
          <a:p>
            <a:r>
              <a:rPr lang="en-IN" dirty="0">
                <a:hlinkClick r:id="rId3"/>
              </a:rPr>
              <a:t>https://michaelbach.de/ot/mot-snakesLum/</a:t>
            </a:r>
            <a:endParaRPr lang="en-IN" dirty="0"/>
          </a:p>
          <a:p>
            <a:r>
              <a:rPr lang="en-IN" dirty="0">
                <a:hlinkClick r:id="rId4"/>
              </a:rPr>
              <a:t>https://journals.sagepub.com/doi/10.1177/20416695211018720</a:t>
            </a:r>
            <a:endParaRPr lang="en-IN" dirty="0"/>
          </a:p>
          <a:p>
            <a:r>
              <a:rPr lang="en-IN">
                <a:hlinkClick r:id="rId5"/>
              </a:rPr>
              <a:t>https://www.psy.ritsumei.ac.jp/akitaoka/saishin57e.html</a:t>
            </a:r>
            <a:endParaRPr lang="en-IN"/>
          </a:p>
          <a:p>
            <a:endParaRPr lang="en-IN" dirty="0"/>
          </a:p>
          <a:p>
            <a:endParaRPr lang="en-IN" dirty="0"/>
          </a:p>
        </p:txBody>
      </p:sp>
    </p:spTree>
    <p:extLst>
      <p:ext uri="{BB962C8B-B14F-4D97-AF65-F5344CB8AC3E}">
        <p14:creationId xmlns:p14="http://schemas.microsoft.com/office/powerpoint/2010/main" val="28121522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458</TotalTime>
  <Words>984</Words>
  <Application>Microsoft Office PowerPoint</Application>
  <PresentationFormat>Widescreen</PresentationFormat>
  <Paragraphs>51</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Garamond</vt:lpstr>
      <vt:lpstr>Organic</vt:lpstr>
      <vt:lpstr>Computational Visual Perception Project Part – 2</vt:lpstr>
      <vt:lpstr>1. Optical Flow &amp; Motion Perception</vt:lpstr>
      <vt:lpstr>Verification of Local Implementation </vt:lpstr>
      <vt:lpstr>Test Case 1.1 : Rotating Snake</vt:lpstr>
      <vt:lpstr>Test Case 1.2 : Colour Swapped Rotating Snake</vt:lpstr>
      <vt:lpstr>Test Case 1.3 : Drifting Emboss illusion</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Test Case 1.2 : Colour Swapped Rotating Snake</vt:lpstr>
      <vt:lpstr>Summary / Inferences </vt:lpstr>
      <vt:lpstr>Failure Cases</vt:lpstr>
      <vt:lpstr>References and Courtesy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Sharma</dc:creator>
  <cp:lastModifiedBy>Siddhant Sharma</cp:lastModifiedBy>
  <cp:revision>5</cp:revision>
  <dcterms:created xsi:type="dcterms:W3CDTF">2025-11-21T17:05:36Z</dcterms:created>
  <dcterms:modified xsi:type="dcterms:W3CDTF">2026-01-02T19:56:52Z</dcterms:modified>
</cp:coreProperties>
</file>